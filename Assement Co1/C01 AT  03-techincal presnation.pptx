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846320"/>
            <a:ext cx="2377440" cy="237744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1188720" cy="11887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02412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46888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Image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 Pipeline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434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FD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physical scene to digital data — the stages, key terms,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FD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errors enter along the way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6263640"/>
            <a:ext cx="1280160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Q.27 — Explanation with flowchart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Acquisition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sequential stages convert a real-world scene into a digital image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33576" y="2039112"/>
            <a:ext cx="402336" cy="402336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5" name="Text 3"/>
          <p:cNvSpPr/>
          <p:nvPr/>
        </p:nvSpPr>
        <p:spPr>
          <a:xfrm>
            <a:off x="1633576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97484" y="233172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5400000">
              <a:srgbClr val="1B262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23264" y="2587752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s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856" y="2752344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8924" y="35661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&amp;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Illumination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2790292" y="3410712"/>
            <a:ext cx="219456" cy="219456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1" name="Shape 8"/>
          <p:cNvSpPr/>
          <p:nvPr/>
        </p:nvSpPr>
        <p:spPr>
          <a:xfrm>
            <a:off x="3764128" y="2039112"/>
            <a:ext cx="402336" cy="402336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12" name="Text 9"/>
          <p:cNvSpPr/>
          <p:nvPr/>
        </p:nvSpPr>
        <p:spPr>
          <a:xfrm>
            <a:off x="3764128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028036" y="233172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5400000">
              <a:srgbClr val="1B262C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53816" y="2587752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1" descr="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408" y="2752344"/>
            <a:ext cx="493776" cy="4937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19476" y="35661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(Lens)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4920844" y="3410712"/>
            <a:ext cx="219456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8" name="Shape 14"/>
          <p:cNvSpPr/>
          <p:nvPr/>
        </p:nvSpPr>
        <p:spPr>
          <a:xfrm>
            <a:off x="5894680" y="2039112"/>
            <a:ext cx="402336" cy="402336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19" name="Text 15"/>
          <p:cNvSpPr/>
          <p:nvPr/>
        </p:nvSpPr>
        <p:spPr>
          <a:xfrm>
            <a:off x="5894680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158588" y="233172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5400000">
              <a:srgbClr val="1B262C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684368" y="2587752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2" descr="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960" y="2752344"/>
            <a:ext cx="493776" cy="49377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50028" y="35661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(CCD / CMOS)</a:t>
            </a:r>
            <a:endParaRPr lang="en-US" sz="1450" dirty="0"/>
          </a:p>
        </p:txBody>
      </p:sp>
      <p:sp>
        <p:nvSpPr>
          <p:cNvPr id="24" name="Shape 19"/>
          <p:cNvSpPr/>
          <p:nvPr/>
        </p:nvSpPr>
        <p:spPr>
          <a:xfrm>
            <a:off x="7051396" y="3410712"/>
            <a:ext cx="219456" cy="219456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5" name="Shape 20"/>
          <p:cNvSpPr/>
          <p:nvPr/>
        </p:nvSpPr>
        <p:spPr>
          <a:xfrm>
            <a:off x="8025232" y="2039112"/>
            <a:ext cx="402336" cy="402336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26" name="Text 21"/>
          <p:cNvSpPr/>
          <p:nvPr/>
        </p:nvSpPr>
        <p:spPr>
          <a:xfrm>
            <a:off x="8025232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7289140" y="233172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5400000">
              <a:srgbClr val="1B262C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814920" y="2587752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9" name="Image 3" descr="gr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9512" y="2752344"/>
            <a:ext cx="493776" cy="49377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80580" y="35661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&amp;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450" dirty="0"/>
          </a:p>
        </p:txBody>
      </p:sp>
      <p:sp>
        <p:nvSpPr>
          <p:cNvPr id="31" name="Shape 25"/>
          <p:cNvSpPr/>
          <p:nvPr/>
        </p:nvSpPr>
        <p:spPr>
          <a:xfrm>
            <a:off x="9181948" y="3410712"/>
            <a:ext cx="219456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32" name="Shape 26"/>
          <p:cNvSpPr/>
          <p:nvPr/>
        </p:nvSpPr>
        <p:spPr>
          <a:xfrm>
            <a:off x="10155784" y="2039112"/>
            <a:ext cx="402336" cy="402336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33" name="Text 27"/>
          <p:cNvSpPr/>
          <p:nvPr/>
        </p:nvSpPr>
        <p:spPr>
          <a:xfrm>
            <a:off x="10155784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9419692" y="233172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5400000">
              <a:srgbClr val="1B262C">
                <a:alpha val="1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9945472" y="2587752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6" name="Image 4" descr="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0064" y="2752344"/>
            <a:ext cx="493776" cy="49377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511132" y="35661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(Storage)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Photons  </a:t>
            </a:r>
            <a:pPr algn="ctr" indent="0" marL="0">
              <a:buNone/>
            </a:pPr>
            <a:r>
              <a:rPr lang="en-US" sz="130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Optical image  </a:t>
            </a:r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Electrical signal  </a:t>
            </a:r>
            <a:pPr algn="ctr" indent="0" marL="0">
              <a:buNone/>
            </a:pPr>
            <a:r>
              <a:rPr lang="en-US" sz="130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Discrete samples  </a:t>
            </a:r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Digital pixel array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548640" y="5806440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013A40"/>
          </a:solidFill>
          <a:ln/>
        </p:spPr>
      </p:sp>
      <p:sp>
        <p:nvSpPr>
          <p:cNvPr id="40" name="Text 33"/>
          <p:cNvSpPr/>
          <p:nvPr/>
        </p:nvSpPr>
        <p:spPr>
          <a:xfrm>
            <a:off x="731520" y="5806440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 one line:  Illumination → Optics → Sensor → Sampling → Quantization → Digital Image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at Each Stage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essential keyword to remember for every stage of acquisition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s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0195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526280" y="1691640"/>
            <a:ext cx="708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source + object reflectance shape the raw scene radiance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106424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660904"/>
            <a:ext cx="621792" cy="6217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9806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5877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 / Focusing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4526280" y="2587752"/>
            <a:ext cx="708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forms an optical image; aperture controls light &amp; depth of field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3410712"/>
            <a:ext cx="1106424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557016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94176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48386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(Transduction)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4526280" y="3483864"/>
            <a:ext cx="708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CCD/CMOS array converts photons into an analog electrical signal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48640" y="4306824"/>
            <a:ext cx="1106424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4453128"/>
            <a:ext cx="621792" cy="6217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3" descr="gr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59028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37997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4526280" y="4379976"/>
            <a:ext cx="708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image is discretized on a spatial pixel grid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48640" y="5202936"/>
            <a:ext cx="1106424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534924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4" descr="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486400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527608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650" dirty="0"/>
          </a:p>
        </p:txBody>
      </p:sp>
      <p:sp>
        <p:nvSpPr>
          <p:cNvPr id="27" name="Text 20"/>
          <p:cNvSpPr/>
          <p:nvPr/>
        </p:nvSpPr>
        <p:spPr>
          <a:xfrm>
            <a:off x="4526280" y="5276088"/>
            <a:ext cx="708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sample's amplitude is mapped to a finite digital gray/color level (bit depth)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Sources of Error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of the pipeline can introduce a distinct type of image degradation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CEB"/>
            </a:solidFill>
            <a:prstDash val="solid"/>
          </a:ln>
          <a:effectLst>
            <a:outerShdw sx="100000" sy="100000" kx="0" ky="0" algn="bl" rotWithShape="0" blurRad="63500" dist="25400" dir="5400000">
              <a:srgbClr val="1B262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6" name="Image 0" descr="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0253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92808"/>
            <a:ext cx="2599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325880" y="2130552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lighting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2560320"/>
            <a:ext cx="3112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Shadows, glare &amp; low light reduce contrast and raise noise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37304" y="1691640"/>
            <a:ext cx="351434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CEB"/>
            </a:solidFill>
            <a:prstDash val="solid"/>
          </a:ln>
          <a:effectLst>
            <a:outerShdw sx="100000" sy="100000" kx="0" ky="0" algn="bl" rotWithShape="0" blurRad="63500" dist="25400" dir="5400000">
              <a:srgbClr val="1B262C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38472" y="189280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2" name="Image 1" descr="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200253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14544" y="1892808"/>
            <a:ext cx="2599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114544" y="2130552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aberration &amp; blur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38472" y="2560320"/>
            <a:ext cx="3112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Distortion, chromatic aberration, defocus, diffraction limit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5968" y="1691640"/>
            <a:ext cx="351434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CEB"/>
            </a:solidFill>
            <a:prstDash val="solid"/>
          </a:ln>
          <a:effectLst>
            <a:outerShdw sx="100000" sy="100000" kx="0" ky="0" algn="bl" rotWithShape="0" blurRad="63500" dist="25400" dir="5400000">
              <a:srgbClr val="1B262C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7136" y="189280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8" name="Image 2" descr="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864" y="200253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03208" y="1892808"/>
            <a:ext cx="2599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903208" y="2130552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noise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327136" y="2560320"/>
            <a:ext cx="3112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noise, dark current, fixed-pattern noise, blooming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3977640"/>
            <a:ext cx="351434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CEB"/>
            </a:solidFill>
            <a:prstDash val="solid"/>
          </a:ln>
          <a:effectLst>
            <a:outerShdw sx="100000" sy="100000" kx="0" ky="0" algn="bl" rotWithShape="0" blurRad="63500" dist="25400" dir="5400000">
              <a:srgbClr val="1B262C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9808" y="417880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4" name="Image 3" descr="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288536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178808"/>
            <a:ext cx="2599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325880" y="4416552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Aliasing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49808" y="4846320"/>
            <a:ext cx="3112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Undersampling below the Nyquist rate creates moiré artifacts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337304" y="3977640"/>
            <a:ext cx="351434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CEB"/>
            </a:solidFill>
            <a:prstDash val="solid"/>
          </a:ln>
          <a:effectLst>
            <a:outerShdw sx="100000" sy="100000" kx="0" ky="0" algn="bl" rotWithShape="0" blurRad="63500" dist="25400" dir="5400000">
              <a:srgbClr val="1B262C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38472" y="417880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30" name="Image 4" descr="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4288536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14544" y="4178808"/>
            <a:ext cx="2599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5114544" y="4416552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error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538472" y="4846320"/>
            <a:ext cx="3112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bit depth causes banding / posterization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5968" y="3977640"/>
            <a:ext cx="3514344" cy="1965960"/>
          </a:xfrm>
          <a:prstGeom prst="roundRect">
            <a:avLst>
              <a:gd name="adj" fmla="val 4186"/>
            </a:avLst>
          </a:prstGeom>
          <a:solidFill>
            <a:srgbClr val="013A40"/>
          </a:solidFill>
          <a:ln/>
        </p:spPr>
      </p:sp>
      <p:sp>
        <p:nvSpPr>
          <p:cNvPr id="35" name="Text 28"/>
          <p:cNvSpPr/>
          <p:nvPr/>
        </p:nvSpPr>
        <p:spPr>
          <a:xfrm>
            <a:off x="8354568" y="4160520"/>
            <a:ext cx="3057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compound stage-to-stage — calibration &amp; filtering at each step keep the final image usable.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18872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645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s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54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order: 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Illumination → Optics → Sensor → Sampling → Quantization → Digital Image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94360" y="27889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697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discretizations: 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(space) and Quantization (amplitude) both convert continuous data into discrete digital form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94360" y="3931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690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3840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accumulates: 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and distortion from every stage carry forward; fix them as early in the chain as possible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94360" y="50749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3" descr="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21208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8760" y="4983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digital image — an M×N matrix of quantized pixel values, ready for processing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2026-07-16T03:41:37Z</dcterms:created>
  <dcterms:modified xsi:type="dcterms:W3CDTF">2026-07-16T03:41:37Z</dcterms:modified>
</cp:coreProperties>
</file>